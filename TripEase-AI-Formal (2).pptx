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297680"/>
            <a:ext cx="9144000" cy="45720"/>
          </a:xfrm>
          <a:prstGeom prst="rect">
            <a:avLst/>
          </a:prstGeom>
          <a:solidFill>
            <a:srgbClr val="3AA0E0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640080" y="1463040"/>
            <a:ext cx="78638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</a:t>
            </a:r>
            <a:endParaRPr lang="en-US" sz="46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2331720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BF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Platform. Every Journey. Made Easy.</a:t>
            </a:r>
            <a:endParaRPr lang="en-US" sz="20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288036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Unified Tourism Ecosystem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434840"/>
            <a:ext cx="7863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FCBE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Problem Statement ID: 26204  |  Category: Software  |  Theme: Travel &amp; Tourism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234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1280160" y="1234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 &amp; Motivation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691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691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 &amp; Vision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40080" y="2148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1280160" y="2148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&amp; Key Features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640080" y="26060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1280160" y="26060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AI Pipeline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40080" y="30632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280160" y="30632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40080" y="35204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1280160" y="35204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 &amp; Journey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39776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1280160" y="39776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Data, ML &amp; Analytics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640080" y="4434840"/>
            <a:ext cx="548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3AA0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1280160" y="443484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Impact, Status &amp; Roadmap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56692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BF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AICTE PS 26204 — Student Innovation for Tourism Industries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1188720"/>
            <a:ext cx="8046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 juggle five or more disconnected tools — separate apps for destination discovery, hotel booking, restaurant search, transport, weather, maps, budgeting and reading reviews — with no single view of the trip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 hotels, homestays, local guides and experience providers (cooking classes, treks, village tours) have very limited digital visibility and struggle to reach tourists beyond word of mouth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administrators lack a unified, data-driven view of visitor trends, spending patterns, destination demand and business performance, making regional planning largely reactive rather than proactive</a:t>
            </a:r>
            <a:endParaRPr lang="en-US" sz="13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 footfall concentrates heavily at a handful of famous destinations (e.g. Mysuru, Coorg) while comparably attractive, less-crowded locations (Agumbe, Kudremukh, Sakleshpur) stay under-explored and under-served by accommodation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8046720" cy="1051560"/>
          </a:xfrm>
          <a:prstGeom prst="roundRect">
            <a:avLst>
              <a:gd name="adj" fmla="val 8696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3703320"/>
            <a:ext cx="54864" cy="1051560"/>
          </a:xfrm>
          <a:prstGeom prst="rect">
            <a:avLst/>
          </a:prstGeom>
          <a:solidFill>
            <a:srgbClr val="2F9E6B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9808" y="3794760"/>
            <a:ext cx="77266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Opportunity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intelligent platform that connects tourists, businesses and tourism authorities can close these gaps using generative AI, machine learning, NLP and predictive analytics — turning every search, booking and review into a feedback loop that benefits the whole ecosystem, not just the individual traveller.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2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097280"/>
            <a:ext cx="80467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unifies the complete tourism journey — Discover, Plan, Optimize, Book, Experience, Review, Improve — on one intelligent platform. It connects tourists, hotels &amp; homestays, restaurants, local guides, experience providers, transport operators and tourism administrators, so activity on one side of the platform becomes useful signal for every other side.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48640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48640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581912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1709928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3AA0E0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1709928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2743200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2871216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2871216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3904488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4032504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3AA0E0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032504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65776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193792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5193792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Experience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227064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355080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3AA0E0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6355080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7388352" y="2240280"/>
            <a:ext cx="1280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7516368" y="2240280"/>
            <a:ext cx="1033272" cy="914400"/>
          </a:xfrm>
          <a:prstGeom prst="roundRect">
            <a:avLst>
              <a:gd name="adj" fmla="val 8000"/>
            </a:avLst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516368" y="2240280"/>
            <a:ext cx="1033272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48640" y="33832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48640" y="3383280"/>
            <a:ext cx="54864" cy="128016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49808" y="34747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Differentiator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simple booking website. An AI-driven ecosystem combining generative AI for planning and conversation, ML for recommendation and demand prediction, and NLP for understanding requests and reviews.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663440" y="3383280"/>
            <a:ext cx="3931920" cy="1280160"/>
          </a:xfrm>
          <a:prstGeom prst="roundRect">
            <a:avLst>
              <a:gd name="adj" fmla="val 7143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4663440" y="3383280"/>
            <a:ext cx="54864" cy="1280160"/>
          </a:xfrm>
          <a:prstGeom prst="rect">
            <a:avLst/>
          </a:prstGeom>
          <a:solidFill>
            <a:srgbClr val="2F9E6B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4864608" y="3474720"/>
            <a:ext cx="3611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Principle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Structured tourism data (destinations, prices, availability) is always the source of truth; generative AI personalises, explains and narrates results — it never invents a hotel, price or booking that does not exist.</a:t>
            </a:r>
            <a:endParaRPr lang="en-US" sz="1300" dirty="0"/>
          </a:p>
        </p:txBody>
      </p:sp>
      <p:sp>
        <p:nvSpPr>
          <p:cNvPr id="31" name="Text 29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Innovation &amp; Key Features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DNA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live profile (nature, adventure, food, culture, luxury, budget sensitivity) learned from onboarding answers, searches, saves and bookings; users can view, edit or reset it anytime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560320" y="11887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56032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2761488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Trip Planner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Converts a plain-English request like "3 days in Coorg under ₹10,000" into a complete day-by-day itinerary with morning/afternoon/evening slots, hotel, cost and an AI tip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0" y="11887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57200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773168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Itinerary Optimizer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geographic distance between stops (haversine + nearest-neighbour routing) to reorder each day and minimise unnecessary back-and-forth travel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583680" y="118872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58368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784848" y="128016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Weather-Aware AI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Checks forecast conditions and proactively reshapes the plan — e.g. moving outdoor stops earlier before rain — while always asking the user to accept or keep the original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2926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292608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Hidden Gems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Uses interest match, distance, review volume and local business availability to surface quieter, equally worthwhile destinations and spread tourism beyond hotspots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560320" y="2926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560320" y="292608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2761488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Review Intelligence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classifies each review as positive, neutral or negative and extracts topics (cleanliness, staff, food, price, location) into a plain-English AI summary for the business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0" y="2926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572000" y="292608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4773168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Match &amp; Trip Health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 Match scores budget fit, interest fit and time efficiency; Trip Health flags issues like an overloaded day or a plan exceeding budget — both always show their contributing factors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583680" y="2926080"/>
            <a:ext cx="18745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0" y="292608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784848" y="3017520"/>
            <a:ext cx="15544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Opportunity Map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Cross-references visitor interest against available accommodation and services to flag destinations with rising demand but limited local infrastructure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Architecture &amp; AI Pipeline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02920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0292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Query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1600200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719072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1719072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/ Intent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2816352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935224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935224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4032504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51376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4151376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Models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5248656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367528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5367528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Generative AI</a:t>
            </a:r>
            <a:endParaRPr lang="en-US" sz="950" dirty="0"/>
          </a:p>
        </p:txBody>
      </p:sp>
      <p:sp>
        <p:nvSpPr>
          <p:cNvPr id="18" name="Text 16"/>
          <p:cNvSpPr txBox="1"/>
          <p:nvPr/>
        </p:nvSpPr>
        <p:spPr>
          <a:xfrm>
            <a:off x="6464808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583680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583680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 + Route Opt.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7680960" y="1234440"/>
            <a:ext cx="118872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799832" y="1234440"/>
            <a:ext cx="1097280" cy="777240"/>
          </a:xfrm>
          <a:prstGeom prst="roundRect">
            <a:avLst>
              <a:gd name="adj" fmla="val 9412"/>
            </a:avLst>
          </a:prstGeom>
          <a:solidFill>
            <a:srgbClr val="EEF5FB"/>
          </a:solidFill>
          <a:ln w="12700">
            <a:solidFill>
              <a:srgbClr val="3AA0E0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7799832" y="1234440"/>
            <a:ext cx="1097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Result</a:t>
            </a:r>
            <a:endParaRPr lang="en-US" sz="950" dirty="0"/>
          </a:p>
        </p:txBody>
      </p:sp>
      <p:sp>
        <p:nvSpPr>
          <p:cNvPr id="24" name="Text 22"/>
          <p:cNvSpPr txBox="1"/>
          <p:nvPr/>
        </p:nvSpPr>
        <p:spPr>
          <a:xfrm>
            <a:off x="548640" y="2331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service architecture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548640" y="2697480"/>
            <a:ext cx="804672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+ TypeScript front end renders all tourist, business and admin experiences and talks to both backend services over REST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/ Express REST API owns authentication (JWT + role-based access), user &amp; business management, bookings, notifications and general PostgreSQL CRUD operations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FastAPI AI/ML service owns the recommendation engine, NLP (intent detection, sentiment, summarisation), demand prediction and generative-AI orchestration for chat and itinerary generation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two backend services communicate over internal APIs, and each layer can be scaled, deployed and tested independently as the platform grows</a:t>
            </a:r>
            <a:endParaRPr lang="en-US" sz="115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AI response is grounded in data pulled from PostgreSQL or the analytics service first, then narrated — not generated from the language model’s memory alone</a:t>
            </a:r>
            <a:endParaRPr lang="en-US" sz="115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Technology Stack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280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React.js, TypeScript, Vite, HTML5/CSS3, Tailwind CSS, Lucide icons, Framer Motion animations, Recharts for in-app charts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1280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Node.js + Express.js for core REST APIs; FastAPI (Python) for the AI/ML service; JWT authentication with role-based authorization throughout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24028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24028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2331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PostgreSQL with primary/foreign keys, indexes on frequently searched fields and timestamped, constraint-enforced tables designed for scale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24028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24028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233172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with NumPy and Pandas for cleaning, transformation, descriptive statistics (mean, median, std, correlation) and exploratory data analysis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2918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" y="329184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749808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ML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 models for content-based recommendation, sentiment classification and demand prediction (Linear Regression, Random Forest, Gradient Boosting compared)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709160" y="329184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709160" y="329184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4910328" y="33832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TensorFlow or PyTorch tourism image classifier categorising photos as beach, mountain, temple, waterfall, historical or wildlife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548640" y="434340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48640" y="434340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49808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Rule-based intent detection and entity extraction (destination, budget, dates, travellers), sentiment analysis and topic extraction from reviews, with a clear upgrade path to an LLM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09160" y="4343400"/>
            <a:ext cx="3977640" cy="960120"/>
          </a:xfrm>
          <a:prstGeom prst="roundRect">
            <a:avLst>
              <a:gd name="adj" fmla="val 952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709160" y="4343400"/>
            <a:ext cx="54864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910328" y="443484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Recharts for live dashboards in-app, Matplotlib/Plotly for Python-side EDA charts, and Power BI for advanced multi-page tourism analytics for administrators</a:t>
            </a:r>
            <a:endParaRPr lang="en-US" sz="13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Roles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and builds a Travel DNA profile; discovers destinations, generates AI itineraries, searches hotels/restaurants/guides, saves places, compares options, books, chats with TripEase AI, tracks budget and reviews places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Registers as a hotel, homestay, restaurant, guide or experience provider; manages listings, prices, availability and bookings; responds to reviews; views analytics and AI-generated business insights; runs offers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0175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Admin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Monitors tourism activity across destinations; verifies businesses; tracks bookings, spending and sentiment; identifies popular, emerging and under-explored destinations; generates tourism reports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92608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0175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Admin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Manages users, roles and permissions platform-wide; oversees businesses and destinations; configures AI services and system settings; monitors platform activity and moderates reported content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End-to-End User Journey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1325880" y="123444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32588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 up, complete onboarding &amp; set Travel DNA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3337560" y="123444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333756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256032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 a natural request: "3 days in Coorg, ₹10,000"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5349240" y="123444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34924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457200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 extracts intent; recommender &amp; generative AI build a day-by-day plan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7360920" y="123444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360920" y="123444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78308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Route optimizer and weather check reshape the plan for efficiency &amp; conditions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1325880" y="297180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32588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 a matched hotel and a local experience through sandbox payment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337560" y="297180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33756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256032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with TripEase AI available for live questions and adjustments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349240" y="297180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34924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457200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a review; NLP runs sentiment &amp; topic analysis automatically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7360920" y="2971800"/>
            <a:ext cx="457200" cy="457200"/>
          </a:xfrm>
          <a:prstGeom prst="ellipse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360920" y="29718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6583680" y="3520440"/>
            <a:ext cx="1874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owners and tourism admins receive aggregated, actionable insight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Value by Stakeholder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 planning that matches real interests and budget, one-stop discovery-to-booking flow, real-time AI assistance during the trip, and clear budget tracking that flags overspending before it happens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09160" y="118872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709160" y="118872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4910328" y="128016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Hotels &amp; Homestays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Greater visibility to a wider tourist base, more direct bookings without heavy commission-based intermediaries, and customer insight plus review sentiment analytics to guide improvements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9260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48640" y="292608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749808" y="30175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Businesses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storefront for guides, food tours, craft workshops and small experience providers who previously relied on word of mouth, with AI-driven recommendations bringing them relevant tourists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709160" y="2926080"/>
            <a:ext cx="3977640" cy="1600200"/>
          </a:xfrm>
          <a:prstGeom prst="roundRect">
            <a:avLst>
              <a:gd name="adj" fmla="val 5714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709160" y="2926080"/>
            <a:ext cx="54864" cy="160020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4910328" y="3017520"/>
            <a:ext cx="365760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Tourism Authorities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Aggregated visitor trend data, spending patterns and sentiment; early signals on emerging destinations; and an opportunity map that supports evidence-based regional tourism planning</a:t>
            </a:r>
            <a:endParaRPr lang="en-US" sz="13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6012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548640" y="118872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Roadmap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49808" y="1280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Tourists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Personalised, budget-aware, weather-adjusted trip planning replacing five separate apps with one intelligent platform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2918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291840" y="1188720"/>
            <a:ext cx="54864" cy="1554480"/>
          </a:xfrm>
          <a:prstGeom prst="rect">
            <a:avLst/>
          </a:prstGeom>
          <a:solidFill>
            <a:srgbClr val="2F9E6B"/>
          </a:solidFill>
          <a:ln w="12700">
            <a:solidFill>
              <a:srgbClr val="2F9E6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493008" y="1280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Digital visibility, more direct bookings and data-driven review insight that turns feedback into concrete action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035040" y="1188720"/>
            <a:ext cx="2560320" cy="1554480"/>
          </a:xfrm>
          <a:prstGeom prst="roundRect">
            <a:avLst>
              <a:gd name="adj" fmla="val 5882"/>
            </a:avLst>
          </a:prstGeom>
          <a:solidFill>
            <a:srgbClr val="EEF5FB"/>
          </a:solidFill>
          <a:ln w="12700">
            <a:solidFill>
              <a:srgbClr val="EEF5F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6035040" y="1188720"/>
            <a:ext cx="54864" cy="1554480"/>
          </a:xfrm>
          <a:prstGeom prst="rect">
            <a:avLst/>
          </a:prstGeom>
          <a:solidFill>
            <a:srgbClr val="0F4C81"/>
          </a:solidFill>
          <a:ln w="12700">
            <a:solidFill>
              <a:srgbClr val="0F4C81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236208" y="1280160"/>
            <a:ext cx="2240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Authorities</a:t>
            </a:r>
            <a:endParaRPr lang="en-US" sz="1300" dirty="0"/>
          </a:p>
          <a:p>
            <a:pPr indent="0" marL="0">
              <a:buNone/>
            </a:pPr>
            <a:r>
              <a:rPr lang="en-US" sz="11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Demand forecasts, sentiment trends and an opportunity map that supports evidence-based regional tourism planning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548640" y="292608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4C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Roadmap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3291840"/>
            <a:ext cx="80467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out the full React/TypeScript front end and migrate the in-memory demo data to a production-scale, indexed PostgreSQL schema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Integrate a live LLM for conversational planning and a real weather API, running alongside the existing fallback services rather than replacing them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and deploy the deep-learning tourism image classifier, and publish the complete multi-page Power BI dashboard for administrators</a:t>
            </a:r>
            <a:endParaRPr lang="en-US" sz="12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00" dirty="0">
                <a:solidFill>
                  <a:srgbClr val="0B25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a pilot deployment with a small set of real hotels, local guides and a tourism board to validate the model with genuine bookings and reviews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48920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TripEase AI  |  AICTE PS 26204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8321040" y="48920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B6F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F4C8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554480"/>
            <a:ext cx="78638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TRIP. ONE PLATFORM.</a:t>
            </a:r>
            <a:endParaRPr lang="en-US" sz="3000" dirty="0"/>
          </a:p>
          <a:p>
            <a:pPr algn="ctr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CONNECTED.</a:t>
            </a:r>
            <a:endParaRPr lang="en-US" sz="30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3931920"/>
            <a:ext cx="7863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BFE3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  |  TripEase AI Team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2026-09-30T09:01:18Z</dcterms:created>
  <dcterms:modified xsi:type="dcterms:W3CDTF">2026-09-30T09:01:18Z</dcterms:modified>
</cp:coreProperties>
</file>